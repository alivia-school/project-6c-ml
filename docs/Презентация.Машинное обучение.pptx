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6" r:id="rId3"/>
    <p:sldId id="257" r:id="rId4"/>
    <p:sldId id="258" r:id="rId5"/>
    <p:sldId id="259" r:id="rId6"/>
    <p:sldId id="260" r:id="rId7"/>
    <p:sldId id="261" r:id="rId8"/>
    <p:sldId id="263" r:id="rId9"/>
    <p:sldId id="264" r:id="rId10"/>
    <p:sldId id="262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3A45"/>
    <a:srgbClr val="5CC8D7"/>
    <a:srgbClr val="015C6F"/>
    <a:srgbClr val="D1ED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8" y="3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F99AFC-741D-EB63-0786-4177E50A2A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5091A9F7-5B0A-14FA-78F7-E08A5F77CC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7A2C85A-43BB-00EA-194B-DBFF73C7A5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8F3B0-4B07-478A-ADBD-B4202A2F879F}" type="datetimeFigureOut">
              <a:rPr lang="ru-RU" smtClean="0"/>
              <a:t>14.01.2026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951AC9B-0838-2214-016A-38544BA6D9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BF1B75A-05A9-35F5-0F13-611AA86E7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07EF6-E073-4FB0-8520-19774E657F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92904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A14EB69-FF66-034B-8CC4-806D87D8A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485242A-7335-7623-57E6-D05362520D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F3D414E-26E8-A232-EAA6-DD6C230EF9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8F3B0-4B07-478A-ADBD-B4202A2F879F}" type="datetimeFigureOut">
              <a:rPr lang="ru-RU" smtClean="0"/>
              <a:t>14.01.2026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8E91F7E-478B-9E2F-E59C-DEB5CE62C9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34C88AF-04FE-71AB-8C04-07C68EEE2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07EF6-E073-4FB0-8520-19774E657F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74845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A5B0527-204D-3215-725A-567C9C081A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95234A8-0BE5-2F93-7320-79AC900605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C3A204F-B444-0E2D-AE5F-1126416A4F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8F3B0-4B07-478A-ADBD-B4202A2F879F}" type="datetimeFigureOut">
              <a:rPr lang="ru-RU" smtClean="0"/>
              <a:t>14.01.2026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BE41466-9514-5B8B-3A79-B74DF4846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B05A6D1-D9F0-E0E2-1981-5BCE1E8B0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07EF6-E073-4FB0-8520-19774E657F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44733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D6FE2BA-9682-8380-D3D0-963FBB826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59248F0-B2BB-867A-752D-FEA59ADD7B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C82E838-CBC3-C022-2876-8C88ABF806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F2976DE-B6F5-5600-4404-C534927303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8F3B0-4B07-478A-ADBD-B4202A2F879F}" type="datetimeFigureOut">
              <a:rPr lang="ru-RU" smtClean="0"/>
              <a:t>14.01.2026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F8220DF-28FA-BD93-3E3E-3F5152BC7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9DF1D49-96C4-1BB1-212F-08C2A003F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07EF6-E073-4FB0-8520-19774E657F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22481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F75FC68-EA38-339D-1E98-1AE7C93E94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F61E7BF-69F8-193E-C9D0-DAA1C0E235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5B87BC7-5499-E8BB-8EF6-4DB332C6E3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C48CC677-49BA-274A-2C5E-66C8F74045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E4AB565F-AD56-3E04-CA81-FB2CB6BC57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8CCB3D21-6A8E-920D-8AB6-3842586130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8F3B0-4B07-478A-ADBD-B4202A2F879F}" type="datetimeFigureOut">
              <a:rPr lang="ru-RU" smtClean="0"/>
              <a:t>14.01.2026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FD0E36AF-D7CE-974E-412A-6FB2BA5C4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EFF773C2-C9F0-987E-A585-D87FC247C8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07EF6-E073-4FB0-8520-19774E657F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406720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D841D96-E388-8839-C95C-354F59F4C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0E0A11B-B02D-7567-32E0-25CFD5177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8F3B0-4B07-478A-ADBD-B4202A2F879F}" type="datetimeFigureOut">
              <a:rPr lang="ru-RU" smtClean="0"/>
              <a:t>14.01.2026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7CD083A3-26A6-0F37-D38F-AFB22A00D6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C25F1BC-545B-2807-2555-962EED3E32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07EF6-E073-4FB0-8520-19774E657F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47777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EC8106C1-9EAC-2249-379A-7204FE956A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8F3B0-4B07-478A-ADBD-B4202A2F879F}" type="datetimeFigureOut">
              <a:rPr lang="ru-RU" smtClean="0"/>
              <a:t>14.01.2026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259EC66C-7081-AFA2-B1FF-726C693619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DE7A16F-EC13-D0F1-786D-1536BF639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07EF6-E073-4FB0-8520-19774E657F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495977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8A85A5B-9D81-1346-D58D-C9309D731D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E944AB-6142-FC29-DD0D-60F6B12DE9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401FA8F-09C0-1974-A0C6-1A2C8B411D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2200B43-7E43-8E8D-AF60-7CA1BA618A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8F3B0-4B07-478A-ADBD-B4202A2F879F}" type="datetimeFigureOut">
              <a:rPr lang="ru-RU" smtClean="0"/>
              <a:t>14.01.2026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F89D3F4-29FE-2344-7DEE-2BAA3B6A38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703D2A2-E6D4-53A3-1D4E-07B722A10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07EF6-E073-4FB0-8520-19774E657F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18778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4BE0A4E-7693-C50E-04D2-9CDA96C8C0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CDA0B1DE-D281-F23C-225E-8EF4AD1039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C4AC845-F510-8459-B5F3-7BA403D474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C7CBCC2-D93B-B5F2-E6D7-8F25E8134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8F3B0-4B07-478A-ADBD-B4202A2F879F}" type="datetimeFigureOut">
              <a:rPr lang="ru-RU" smtClean="0"/>
              <a:t>14.01.2026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5AE870E-330B-967D-93A6-37206E026D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1EBD87A-D8BE-BFD7-E6F4-4626D77BC4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07EF6-E073-4FB0-8520-19774E657F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91161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A81B1EA-84C2-36BB-1764-B33199ACF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091ED920-7A07-12CE-FE60-6B1388FB9A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17081F8-ACC6-4131-FEDF-CD9BE483E6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8F3B0-4B07-478A-ADBD-B4202A2F879F}" type="datetimeFigureOut">
              <a:rPr lang="ru-RU" smtClean="0"/>
              <a:t>14.01.2026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D656A77-3FA1-A032-6707-CEFA8118F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879087F-789A-006C-8795-6950EAB35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07EF6-E073-4FB0-8520-19774E657F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09060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5B7D2C17-CC13-482B-7E3A-F29D001E10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F275E53-CFD8-100F-DE12-8815B87A2E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FA44022-5A4A-1AC3-A0CA-340BFBBD53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8F3B0-4B07-478A-ADBD-B4202A2F879F}" type="datetimeFigureOut">
              <a:rPr lang="ru-RU" smtClean="0"/>
              <a:t>14.01.2026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2656740-830D-A581-9E25-7F8A72DE74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FE65B96-1629-EDB5-7DEE-7BAF113EFD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07EF6-E073-4FB0-8520-19774E657F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353155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57E3DFF-5B49-8B60-6062-A45DC7B307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E48F5BC-6BDB-E603-8491-9B5016B648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EA00073-A69D-02FF-A6D3-E024B1950D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E8F3B0-4B07-478A-ADBD-B4202A2F879F}" type="datetimeFigureOut">
              <a:rPr lang="ru-RU" smtClean="0"/>
              <a:t>14.01.2026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8F34142-C564-6639-E5D6-66ABC70D17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FF635FC-7D64-7EE4-05E5-270ADF7C17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307EF6-E073-4FB0-8520-19774E657F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18168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84000"/>
            <a:lum/>
          </a:blip>
          <a:srcRect/>
          <a:stretch>
            <a:fillRect t="7000" b="-28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C21F7D2-525D-D6A3-F0B9-4E9A7C74953E}"/>
              </a:ext>
            </a:extLst>
          </p:cNvPr>
          <p:cNvSpPr txBox="1"/>
          <p:nvPr/>
        </p:nvSpPr>
        <p:spPr>
          <a:xfrm>
            <a:off x="1607360" y="2562822"/>
            <a:ext cx="918334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5400" dirty="0">
                <a:solidFill>
                  <a:schemeClr val="tx2">
                    <a:lumMod val="75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Машинное обучение</a:t>
            </a:r>
            <a:endParaRPr lang="ru-RU" sz="54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87C968-EA4C-A9E1-D10C-890D3B8AC1E3}"/>
              </a:ext>
            </a:extLst>
          </p:cNvPr>
          <p:cNvSpPr txBox="1"/>
          <p:nvPr/>
        </p:nvSpPr>
        <p:spPr>
          <a:xfrm>
            <a:off x="7104185" y="3974332"/>
            <a:ext cx="487836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2400" b="1" dirty="0">
                <a:solidFill>
                  <a:schemeClr val="tx2">
                    <a:lumMod val="75000"/>
                  </a:schemeClr>
                </a:solidFill>
              </a:rPr>
              <a:t>Работа учениц 6 класса «Э»</a:t>
            </a:r>
          </a:p>
          <a:p>
            <a:pPr algn="r"/>
            <a:r>
              <a:rPr lang="ru-RU" sz="2400" b="1" dirty="0" err="1">
                <a:solidFill>
                  <a:schemeClr val="tx2">
                    <a:lumMod val="75000"/>
                  </a:schemeClr>
                </a:solidFill>
              </a:rPr>
              <a:t>Сойчик</a:t>
            </a:r>
            <a:r>
              <a:rPr lang="ru-RU" sz="2400" b="1" dirty="0">
                <a:solidFill>
                  <a:schemeClr val="tx2">
                    <a:lumMod val="75000"/>
                  </a:schemeClr>
                </a:solidFill>
              </a:rPr>
              <a:t> </a:t>
            </a:r>
            <a:r>
              <a:rPr lang="ru-RU" sz="2400" b="1" dirty="0" err="1">
                <a:solidFill>
                  <a:schemeClr val="tx2">
                    <a:lumMod val="75000"/>
                  </a:schemeClr>
                </a:solidFill>
              </a:rPr>
              <a:t>Аливии</a:t>
            </a:r>
            <a:r>
              <a:rPr lang="ru-RU" sz="2400" b="1" dirty="0">
                <a:solidFill>
                  <a:schemeClr val="tx2">
                    <a:lumMod val="75000"/>
                  </a:schemeClr>
                </a:solidFill>
              </a:rPr>
              <a:t> Николаевны</a:t>
            </a:r>
          </a:p>
          <a:p>
            <a:pPr algn="r"/>
            <a:r>
              <a:rPr lang="ru-RU" sz="2400" b="1" dirty="0">
                <a:solidFill>
                  <a:schemeClr val="tx2">
                    <a:lumMod val="75000"/>
                  </a:schemeClr>
                </a:solidFill>
              </a:rPr>
              <a:t>и Мороз Надежды Николаевны</a:t>
            </a:r>
          </a:p>
          <a:p>
            <a:pPr algn="r"/>
            <a:r>
              <a:rPr lang="ru-RU" sz="2400" b="1" dirty="0">
                <a:solidFill>
                  <a:schemeClr val="tx2">
                    <a:lumMod val="75000"/>
                  </a:schemeClr>
                </a:solidFill>
              </a:rPr>
              <a:t>Руководитель проекта</a:t>
            </a:r>
          </a:p>
          <a:p>
            <a:pPr algn="r"/>
            <a:r>
              <a:rPr lang="ru-RU" sz="2400" b="1" dirty="0">
                <a:solidFill>
                  <a:schemeClr val="tx2">
                    <a:lumMod val="75000"/>
                  </a:schemeClr>
                </a:solidFill>
              </a:rPr>
              <a:t>Твердохлеб Юлия Алексеевна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0798FA-EBF4-F8FC-4C2E-79212FCC0840}"/>
              </a:ext>
            </a:extLst>
          </p:cNvPr>
          <p:cNvSpPr txBox="1"/>
          <p:nvPr/>
        </p:nvSpPr>
        <p:spPr>
          <a:xfrm>
            <a:off x="1607360" y="225663"/>
            <a:ext cx="918334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>
                <a:solidFill>
                  <a:schemeClr val="tx2">
                    <a:lumMod val="75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ДЕПАРТАМЕНТ ОБРАЗОВАНИЯ ГОРОДА МОСКВЫ</a:t>
            </a:r>
          </a:p>
          <a:p>
            <a:pPr algn="ctr"/>
            <a:r>
              <a:rPr lang="ru-RU" sz="2400" dirty="0">
                <a:solidFill>
                  <a:schemeClr val="tx2">
                    <a:lumMod val="75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ГОСУДАРСТВЕННОЕ БЮДЖЕТНОЕ ОБЩЕОБРАЗОВАТЕЛЬНОЕ УЧРЕЖДЕНИЕ ГОРОДА МОСКВЫ</a:t>
            </a:r>
          </a:p>
          <a:p>
            <a:pPr algn="ctr"/>
            <a:r>
              <a:rPr lang="ru-RU" sz="2400" dirty="0">
                <a:solidFill>
                  <a:schemeClr val="tx2">
                    <a:lumMod val="75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«ШКОЛА № 1504»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495C69-FF2E-4AA5-4A0D-B38BDBBE8839}"/>
              </a:ext>
            </a:extLst>
          </p:cNvPr>
          <p:cNvSpPr txBox="1"/>
          <p:nvPr/>
        </p:nvSpPr>
        <p:spPr>
          <a:xfrm>
            <a:off x="4103891" y="6439933"/>
            <a:ext cx="3984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b="1" dirty="0">
                <a:solidFill>
                  <a:schemeClr val="tx2">
                    <a:lumMod val="75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Москва, 2025-2026</a:t>
            </a:r>
          </a:p>
        </p:txBody>
      </p:sp>
    </p:spTree>
    <p:extLst>
      <p:ext uri="{BB962C8B-B14F-4D97-AF65-F5344CB8AC3E}">
        <p14:creationId xmlns:p14="http://schemas.microsoft.com/office/powerpoint/2010/main" val="29994649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70000"/>
            <a:lum/>
          </a:blip>
          <a:srcRect/>
          <a:stretch>
            <a:fillRect l="21000" t="-3000" r="-13000" b="-18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8CD4A3-5911-A745-7487-5E4D71D6B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66C209D-392A-CFDF-9EB5-65596AFA9CCD}"/>
              </a:ext>
            </a:extLst>
          </p:cNvPr>
          <p:cNvSpPr txBox="1"/>
          <p:nvPr/>
        </p:nvSpPr>
        <p:spPr>
          <a:xfrm>
            <a:off x="1276599" y="403754"/>
            <a:ext cx="378838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tx2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Цель проекта</a:t>
            </a:r>
            <a:endParaRPr lang="ru-RU" sz="40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7CA427-9837-80D6-E20D-824EBC0F04EC}"/>
              </a:ext>
            </a:extLst>
          </p:cNvPr>
          <p:cNvSpPr txBox="1"/>
          <p:nvPr/>
        </p:nvSpPr>
        <p:spPr>
          <a:xfrm>
            <a:off x="6440902" y="5338397"/>
            <a:ext cx="378838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tx2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Актуальность</a:t>
            </a:r>
            <a:endParaRPr lang="ru-RU" sz="40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32C07A-7D3A-57AD-0AE0-7E481F181E94}"/>
              </a:ext>
            </a:extLst>
          </p:cNvPr>
          <p:cNvSpPr txBox="1"/>
          <p:nvPr/>
        </p:nvSpPr>
        <p:spPr>
          <a:xfrm>
            <a:off x="536954" y="4215012"/>
            <a:ext cx="4170217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>
                <a:solidFill>
                  <a:schemeClr val="accent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Разработка модели и  </a:t>
            </a:r>
            <a:r>
              <a:rPr lang="en-US" sz="2800" b="1" dirty="0">
                <a:solidFill>
                  <a:schemeClr val="accent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WEB </a:t>
            </a:r>
            <a:r>
              <a:rPr lang="ru-RU" sz="2800" b="1" dirty="0">
                <a:solidFill>
                  <a:schemeClr val="accent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приложения «</a:t>
            </a:r>
            <a:r>
              <a:rPr lang="ru-RU" sz="2800" b="1" dirty="0">
                <a:solidFill>
                  <a:schemeClr val="accent2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Прогноз оценки по математике»</a:t>
            </a:r>
            <a:endParaRPr lang="ru-RU" sz="2800" b="1" dirty="0">
              <a:solidFill>
                <a:schemeClr val="accent2">
                  <a:lumMod val="50000"/>
                </a:schemeClr>
              </a:solidFill>
            </a:endParaRPr>
          </a:p>
          <a:p>
            <a:endParaRPr lang="ru-RU" sz="28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000A00-F659-3DE1-F12D-6B01A8624FB2}"/>
              </a:ext>
            </a:extLst>
          </p:cNvPr>
          <p:cNvSpPr txBox="1"/>
          <p:nvPr/>
        </p:nvSpPr>
        <p:spPr>
          <a:xfrm>
            <a:off x="6546737" y="399545"/>
            <a:ext cx="4434177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>
                <a:solidFill>
                  <a:schemeClr val="accent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Машинное обучение и ИИ стали незаменимыми помощниками для людей  </a:t>
            </a:r>
            <a:endParaRPr lang="ru-RU" sz="2800" b="1" dirty="0">
              <a:solidFill>
                <a:schemeClr val="accent2">
                  <a:lumMod val="50000"/>
                </a:schemeClr>
              </a:solidFill>
            </a:endParaRPr>
          </a:p>
          <a:p>
            <a:endParaRPr lang="ru-RU" sz="2800" dirty="0">
              <a:solidFill>
                <a:schemeClr val="accent2">
                  <a:lumMod val="50000"/>
                </a:schemeClr>
              </a:solidFill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FB96BE4-B2CF-8E49-94C8-678A963029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6433" y="1111640"/>
            <a:ext cx="3018477" cy="3018477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1A6646D-04CC-B8F6-B011-AB7E2A7A40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6737" y="2219636"/>
            <a:ext cx="4983479" cy="2803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86795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75000"/>
            <a:lum/>
          </a:blip>
          <a:srcRect/>
          <a:stretch>
            <a:fillRect l="-14000" t="3000" r="21000" b="-15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55760D7-7D44-3771-B28D-E2AC9A552B9D}"/>
              </a:ext>
            </a:extLst>
          </p:cNvPr>
          <p:cNvSpPr txBox="1"/>
          <p:nvPr/>
        </p:nvSpPr>
        <p:spPr>
          <a:xfrm>
            <a:off x="3287279" y="178671"/>
            <a:ext cx="56174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000" dirty="0">
                <a:solidFill>
                  <a:schemeClr val="tx2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От простого к сложному</a:t>
            </a:r>
            <a:endParaRPr lang="ru-RU" sz="4000" dirty="0">
              <a:solidFill>
                <a:schemeClr val="tx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804035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71000"/>
            <a:lum/>
          </a:blip>
          <a:srcRect/>
          <a:stretch>
            <a:fillRect l="26000" t="9000" r="-8000" b="-24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413AAAD-597B-BD12-EC90-81BE22F2418F}"/>
              </a:ext>
            </a:extLst>
          </p:cNvPr>
          <p:cNvSpPr txBox="1"/>
          <p:nvPr/>
        </p:nvSpPr>
        <p:spPr>
          <a:xfrm>
            <a:off x="5697415" y="284733"/>
            <a:ext cx="69300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tx2">
                    <a:lumMod val="75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Этапы разработки продукта</a:t>
            </a:r>
            <a:endParaRPr lang="ru-RU" sz="4000" dirty="0">
              <a:solidFill>
                <a:schemeClr val="tx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019088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69000"/>
            <a:lum/>
          </a:blip>
          <a:srcRect/>
          <a:stretch>
            <a:fillRect l="-18000" t="-10000" r="6000" b="-34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B851653-CDA2-CA31-A2A2-623537ACAB81}"/>
              </a:ext>
            </a:extLst>
          </p:cNvPr>
          <p:cNvSpPr txBox="1"/>
          <p:nvPr/>
        </p:nvSpPr>
        <p:spPr>
          <a:xfrm>
            <a:off x="694937" y="234108"/>
            <a:ext cx="78290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tx2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Данные для машинного обучения</a:t>
            </a:r>
            <a:endParaRPr lang="ru-RU" sz="4000" dirty="0">
              <a:solidFill>
                <a:schemeClr val="tx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63431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75000"/>
            <a:lum/>
          </a:blip>
          <a:srcRect/>
          <a:stretch>
            <a:fillRect l="11000" t="6000" r="-18000" b="-44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DC294AA-67AF-BB88-2E96-B8DF88717EC0}"/>
              </a:ext>
            </a:extLst>
          </p:cNvPr>
          <p:cNvSpPr txBox="1"/>
          <p:nvPr/>
        </p:nvSpPr>
        <p:spPr>
          <a:xfrm>
            <a:off x="297427" y="151522"/>
            <a:ext cx="1092859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tx2">
                    <a:lumMod val="75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Разработка модели ИИ</a:t>
            </a:r>
            <a:endParaRPr lang="ru-RU" sz="4000" dirty="0">
              <a:solidFill>
                <a:schemeClr val="tx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58988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76000"/>
            <a:lum/>
          </a:blip>
          <a:srcRect/>
          <a:stretch>
            <a:fillRect l="-11000" t="4000" r="14000" b="-2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1DFD99B-C034-4BBE-CC1F-033DBB8B1638}"/>
              </a:ext>
            </a:extLst>
          </p:cNvPr>
          <p:cNvSpPr txBox="1"/>
          <p:nvPr/>
        </p:nvSpPr>
        <p:spPr>
          <a:xfrm>
            <a:off x="473516" y="234604"/>
            <a:ext cx="48392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tx2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Web </a:t>
            </a:r>
            <a:r>
              <a:rPr lang="ru-RU" sz="4000" dirty="0">
                <a:solidFill>
                  <a:schemeClr val="tx2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приложение</a:t>
            </a:r>
            <a:endParaRPr lang="ru-RU" sz="40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8ECA32-8D35-11BC-2CCB-5091430A814E}"/>
              </a:ext>
            </a:extLst>
          </p:cNvPr>
          <p:cNvSpPr txBox="1"/>
          <p:nvPr/>
        </p:nvSpPr>
        <p:spPr>
          <a:xfrm>
            <a:off x="255807" y="2107000"/>
            <a:ext cx="44005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2">
                    <a:lumMod val="50000"/>
                  </a:schemeClr>
                </a:solidFill>
              </a:rPr>
              <a:t>https://ml-project.publicvm.com/</a:t>
            </a:r>
            <a:endParaRPr lang="ru-RU" sz="24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B8FA9D-E519-77C2-2244-D1A3D04320CA}"/>
              </a:ext>
            </a:extLst>
          </p:cNvPr>
          <p:cNvSpPr txBox="1"/>
          <p:nvPr/>
        </p:nvSpPr>
        <p:spPr>
          <a:xfrm>
            <a:off x="255807" y="1522225"/>
            <a:ext cx="483923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tx2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URL:</a:t>
            </a:r>
            <a:endParaRPr lang="ru-RU" sz="3200" dirty="0">
              <a:solidFill>
                <a:schemeClr val="tx2">
                  <a:lumMod val="75000"/>
                </a:schemeClr>
              </a:solidFill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884768D-E9B6-E548-11A9-B715978384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050" y="2855449"/>
            <a:ext cx="2396375" cy="2422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49109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86000"/>
            <a:lum/>
          </a:blip>
          <a:srcRect/>
          <a:stretch>
            <a:fillRect l="22000" t="12000" r="-10000" b="-24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804928-C0E3-2CAF-4005-CB3D366AD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FABC8DE-81A0-116C-CAB5-E85720748348}"/>
              </a:ext>
            </a:extLst>
          </p:cNvPr>
          <p:cNvSpPr txBox="1"/>
          <p:nvPr/>
        </p:nvSpPr>
        <p:spPr>
          <a:xfrm>
            <a:off x="7644865" y="120650"/>
            <a:ext cx="43566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tx2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Web </a:t>
            </a:r>
            <a:r>
              <a:rPr lang="ru-RU" sz="4000" dirty="0">
                <a:solidFill>
                  <a:schemeClr val="tx2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приложение</a:t>
            </a:r>
            <a:endParaRPr lang="ru-RU" sz="4000" dirty="0">
              <a:solidFill>
                <a:schemeClr val="tx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682179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59000"/>
            <a:lum/>
          </a:blip>
          <a:srcRect/>
          <a:stretch>
            <a:fillRect t="-10000" b="-10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391581-F5BE-B274-98B5-046F2029B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547DE1A-5D6B-E8F7-A2AE-85773C571CC7}"/>
              </a:ext>
            </a:extLst>
          </p:cNvPr>
          <p:cNvSpPr txBox="1"/>
          <p:nvPr/>
        </p:nvSpPr>
        <p:spPr>
          <a:xfrm>
            <a:off x="869866" y="391863"/>
            <a:ext cx="78290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tx2">
                    <a:lumMod val="75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Заключение</a:t>
            </a:r>
            <a:endParaRPr lang="ru-RU" sz="4000" dirty="0">
              <a:solidFill>
                <a:schemeClr val="tx2">
                  <a:lumMod val="75000"/>
                </a:schemeClr>
              </a:solidFill>
            </a:endParaRPr>
          </a:p>
        </p:txBody>
      </p:sp>
      <p:pic>
        <p:nvPicPr>
          <p:cNvPr id="1026" name="Picture 2" descr="Ноутбук в подарок ребенку: какой купить настольный ПК качественный и  недорогой - Педагогический портал «О детстве»">
            <a:extLst>
              <a:ext uri="{FF2B5EF4-FFF2-40B4-BE49-F238E27FC236}">
                <a16:creationId xmlns:a16="http://schemas.microsoft.com/office/drawing/2014/main" id="{221DA824-A017-86C0-A3F0-860479CBEC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3373" y="1099749"/>
            <a:ext cx="4171121" cy="27807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2FB24AA4-F235-51D0-063D-0BB89064E5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3333588"/>
            <a:ext cx="4658936" cy="2470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1B3A4A6-5BC3-B72C-72C1-14C992EF1950}"/>
              </a:ext>
            </a:extLst>
          </p:cNvPr>
          <p:cNvSpPr txBox="1"/>
          <p:nvPr/>
        </p:nvSpPr>
        <p:spPr>
          <a:xfrm>
            <a:off x="973373" y="4132377"/>
            <a:ext cx="436990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dirty="0"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Приложение </a:t>
            </a:r>
            <a:r>
              <a:rPr lang="ru-RU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может </a:t>
            </a:r>
            <a:r>
              <a:rPr lang="ru-RU" sz="1800" dirty="0"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иметь практическое применение для школьников 5-7 классов для изучения алгоритма решения линейных уравнений и как помощник для их решения в будущем.</a:t>
            </a:r>
            <a:endParaRPr lang="ru-RU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6539E3-5342-2823-0FF3-1B38746669BB}"/>
              </a:ext>
            </a:extLst>
          </p:cNvPr>
          <p:cNvSpPr txBox="1"/>
          <p:nvPr/>
        </p:nvSpPr>
        <p:spPr>
          <a:xfrm>
            <a:off x="6096000" y="2228671"/>
            <a:ext cx="43281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dirty="0"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В процессе тестирования были выявлены моменты, которые можно улучшить в следующих версиях.</a:t>
            </a:r>
            <a:endParaRPr lang="ru-RU" dirty="0">
              <a:solidFill>
                <a:srgbClr val="015C6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37010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81000"/>
            <a:lum/>
          </a:blip>
          <a:srcRect/>
          <a:stretch>
            <a:fillRect t="-10000" b="-10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03D3152-31D0-1DED-D8ED-5BA5FCFE4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593AA1A-DB38-6062-B10C-28696AFBF1EE}"/>
              </a:ext>
            </a:extLst>
          </p:cNvPr>
          <p:cNvSpPr txBox="1"/>
          <p:nvPr/>
        </p:nvSpPr>
        <p:spPr>
          <a:xfrm>
            <a:off x="2138288" y="1225849"/>
            <a:ext cx="8257736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6600" dirty="0">
                <a:solidFill>
                  <a:schemeClr val="tx2">
                    <a:lumMod val="75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Спасибо за внимание!</a:t>
            </a:r>
            <a:endParaRPr lang="ru-RU" sz="6600" dirty="0">
              <a:solidFill>
                <a:schemeClr val="tx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365122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548</TotalTime>
  <Words>133</Words>
  <Application>Microsoft Office PowerPoint</Application>
  <PresentationFormat>Широкоэкранный</PresentationFormat>
  <Paragraphs>26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Aly</dc:creator>
  <cp:lastModifiedBy>Alivia</cp:lastModifiedBy>
  <cp:revision>50</cp:revision>
  <dcterms:created xsi:type="dcterms:W3CDTF">2025-01-14T13:39:54Z</dcterms:created>
  <dcterms:modified xsi:type="dcterms:W3CDTF">2026-01-14T18:53:44Z</dcterms:modified>
</cp:coreProperties>
</file>